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Turbine Bearing Digital Twin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PCA-Based Health Indicator Synthesis &amp; Real-Time Prognosis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514600"/>
            <a:ext cx="1965960" cy="146304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2578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50-Day Bearing Life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 kHz Vibration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514600"/>
            <a:ext cx="1965960" cy="146304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87752" y="2578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87752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1965960" cy="146304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36592" y="2578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Zones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Warning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Critical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2514600"/>
            <a:ext cx="1965960" cy="146304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85432" y="2578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85432" y="2880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· JavaScript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 |  BITS Pilani, Pilani Campus  |  Digital Twin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3977640" cy="3474720"/>
          </a:xfrm>
          <a:prstGeom prst="rect">
            <a:avLst/>
          </a:prstGeom>
          <a:solidFill>
            <a:srgbClr val="1E293B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3977640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503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Bearings are the #1 failure mode in wind turbines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Unplanned downtime costs &gt;$50k/turbine/day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Raw vibration signals are high-dimensional &amp; noisy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072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single feature reliably captures degradation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Operators need a simple, real-time health metric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841248"/>
            <a:ext cx="3977640" cy="3474720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841248"/>
            <a:ext cx="3977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8503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2984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Extract RMS, Kurtosis, Crest Factor from raw signal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801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 informative features via monotonicity scoring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Fuse features into a scalar HI using PCA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8072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Smooth HI with EMA; normalise to [0, 1] scale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310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 real-time data to a browser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MATLAB Wind Turbine Bearing Benchmark · 50 Days · 97.6 kHz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859536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85876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858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" y="4251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.mat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days)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93392" y="385876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93392" y="3858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75104" y="4251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12464" y="385876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2464" y="3858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94176" y="4251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(Health HI)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31536" y="3858768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31536" y="3858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13248" y="4251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150608" y="385876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0608" y="3858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0" y="4251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3749040"/>
          </a:xfrm>
          <a:prstGeom prst="rect">
            <a:avLst/>
          </a:prstGeom>
          <a:solidFill>
            <a:srgbClr val="1E293B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74320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138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Vibration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 = √( (1/N) Σ xₙ² 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2560320" cy="0"/>
          </a:xfrm>
          <a:prstGeom prst="line">
            <a:avLst/>
          </a:prstGeom>
          <a:noFill/>
          <a:ln w="63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031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signal energy. Monotonically increases as fault severity grows. Low sensitivity in early stages (monotonicity = 0.02).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886200"/>
            <a:ext cx="2560320" cy="475488"/>
          </a:xfrm>
          <a:prstGeom prst="rect">
            <a:avLst/>
          </a:prstGeom>
          <a:solidFill>
            <a:srgbClr val="F43F5E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89534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EXCLUDED  |  Monotonicity = 0.02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804672"/>
            <a:ext cx="2743200" cy="374904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804672"/>
            <a:ext cx="274320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8138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1536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μ₄ / σ⁴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993392"/>
            <a:ext cx="25603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1031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Impulsiveness of signal. Healthy bearing K ≈ 3.0 (Gaussian). Rises sharply on fault initiation. Monotonicity = 0.31.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886200"/>
            <a:ext cx="2560320" cy="475488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89534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  |  Monotonicity = 0.31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804672"/>
            <a:ext cx="2743200" cy="3749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804672"/>
            <a:ext cx="274320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8138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Factor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1536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= max|xₙ| / RMS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1993392"/>
            <a:ext cx="2560320" cy="0"/>
          </a:xfrm>
          <a:prstGeom prst="line">
            <a:avLst/>
          </a:prstGeom>
          <a:noFill/>
          <a:ln w="63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1031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Peak-to-RMS ratio. Best early-stage indicator. Elevates before kurtosis responds. Monotonicity = 0.31.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886200"/>
            <a:ext cx="2560320" cy="475488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89534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  |  Monotonicity = 0.31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Evolution Over 50-Day Bearing Life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04672"/>
            <a:ext cx="877824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1–20  Healthy baseline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004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20–40  Fault progression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40–50  Rapid degradation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PCA-Based Feature Fusion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Standardise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7490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(f̃ − μ_train) / σ_train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Project to PC1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37490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110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s_d  =  w₁ᵀ · z_d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Deviation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37490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88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HI_raw  =  |s_d − s_baseline|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154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Normalise to [0, 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447288"/>
            <a:ext cx="37490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65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 =  1 − HI_raw / max(HI_raw)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931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EMA Smoothing (α=0.2)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224528"/>
            <a:ext cx="37490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242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HI_EMA  =  0.2·HI + 0.8·HI_prev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60520" y="749808"/>
            <a:ext cx="47548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Health Indicator — Degradation Trend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04672"/>
            <a:ext cx="877824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206240"/>
            <a:ext cx="265176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42245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&gt; 0.70  ·  Days 1–28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10128" y="4206240"/>
            <a:ext cx="265176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01568" y="42245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&lt; HI ≤ 0.70  ·  Days 28–47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63056" y="4206240"/>
            <a:ext cx="2651760" cy="822960"/>
          </a:xfrm>
          <a:prstGeom prst="rect">
            <a:avLst/>
          </a:prstGeom>
          <a:solidFill>
            <a:srgbClr val="1E293B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54496" y="42245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≤ 0.30  ·  Days 47–50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Analysis: Time Domain &amp; FFT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498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Waveforms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42416"/>
            <a:ext cx="429768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74980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Spectrum (FFT) — 4 Lifecycle Stages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042416"/>
            <a:ext cx="429768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44568" y="749808"/>
            <a:ext cx="0" cy="416052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Browser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0116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" y="84124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Health Indicator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1752" y="11155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01752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→ 0.0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804672"/>
            <a:ext cx="20116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84124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96312" y="11155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96312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≈ 3.0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804672"/>
            <a:ext cx="20116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84124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Vibration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0872" y="11155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2.143 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90872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Energy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804672"/>
            <a:ext cx="20116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85432" y="84124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Factor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85432" y="11155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85432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Impulse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212848"/>
            <a:ext cx="4114800" cy="260604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228600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Implementation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26974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Flask REST API  (Python back-end)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0449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/current endpoint → JSON state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3924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500 ms polling in JavaScript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7398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Plotly.js: live HI trend + FFT charts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4087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Tailwind CSS: responsive dark-mode UI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44348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Thread-safe state with Python locks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212848"/>
            <a:ext cx="4114800" cy="2606040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2860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Data Flow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2724912"/>
            <a:ext cx="3840480" cy="594360"/>
          </a:xfrm>
          <a:prstGeom prst="rect">
            <a:avLst/>
          </a:prstGeom>
          <a:solidFill>
            <a:srgbClr val="0F17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/start-simulation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background thread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383280"/>
            <a:ext cx="3840480" cy="594360"/>
          </a:xfrm>
          <a:prstGeom prst="rect">
            <a:avLst/>
          </a:prstGeom>
          <a:solidFill>
            <a:srgbClr val="0F17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4015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/current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JSON: HI, Kurtosis, RMS, FFT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4041648"/>
            <a:ext cx="3840480" cy="594360"/>
          </a:xfrm>
          <a:prstGeom prst="rect">
            <a:avLst/>
          </a:prstGeom>
          <a:solidFill>
            <a:srgbClr val="0F17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0599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/stop-simulation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the stream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4315968" cy="1261872"/>
          </a:xfrm>
          <a:prstGeom prst="rect">
            <a:avLst/>
          </a:prstGeom>
          <a:solidFill>
            <a:srgbClr val="1E293B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41248"/>
            <a:ext cx="45720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9611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and Crest Factor (monotonicity 0.31) were selected. RMS (0.02) was excluded as its early-stage sensitivity was insufficient.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841248"/>
            <a:ext cx="4315968" cy="1261872"/>
          </a:xfrm>
          <a:prstGeom prst="rect">
            <a:avLst/>
          </a:prstGeom>
          <a:solidFill>
            <a:srgbClr val="1E293B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41248"/>
            <a:ext cx="45720" cy="12618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9611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Lead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onset (Day 20) was detectable from the PCA-HI trend approximately 3 days after initiation — well before visible RMS elevation.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231136"/>
            <a:ext cx="4315968" cy="1261872"/>
          </a:xfrm>
          <a:prstGeom prst="rect">
            <a:avLst/>
          </a:prstGeom>
          <a:solidFill>
            <a:srgbClr val="1E293B"/>
          </a:solidFill>
          <a:ln w="1016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231136"/>
            <a:ext cx="45720" cy="12618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2860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Zone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2578608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zone entered Day ~28; Critical zone triggered Day ~47. Provides ~3 days advance notice before functional failure at Day 50.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231136"/>
            <a:ext cx="4315968" cy="1261872"/>
          </a:xfrm>
          <a:prstGeom prst="rect">
            <a:avLst/>
          </a:prstGeom>
          <a:solidFill>
            <a:srgbClr val="1E293B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231136"/>
            <a:ext cx="45720" cy="1261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860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Spectral Signature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578608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Inner-race fault harmonics (BPFI: 162 Hz) appear at Day 20. Broad-spectrum noise floor elevation confirms spalling at Day 50.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621024"/>
            <a:ext cx="4315968" cy="1261872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621024"/>
            <a:ext cx="45720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6758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Latency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" y="3968496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(load → extract → PCA → stream → UI) runs in &lt;200 ms/day. Dashboard updates at 500 ms intervals with real FFT 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621024"/>
            <a:ext cx="4315968" cy="1261872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21024"/>
            <a:ext cx="45720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758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Smoothing Effect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68496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Alpha=0.2 suppresses day-to-day noise by ~4× while introducing &lt;2-day lag in the trend — optimal for operational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9611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207008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a complete digital twin for wind turbine bearing prognosis. PCA fusion of Kurtosis and Crest Factor — selected by monotonicity scoring — generates a scalar Health Indicator that clearly captures the three degradation phases (Healthy, Warning, Critical) across the 50-day bearing life. The full-stack implementation (Python · Flask · Plotly) delivers real-time operator situational awareness with sub-second latency.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2395728"/>
            <a:ext cx="2029968" cy="233172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" y="2468880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" y="290779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Estimation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3273552"/>
            <a:ext cx="188366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Wiener process or LSTM for quantitative remaining useful life prediction.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395728"/>
            <a:ext cx="2029968" cy="233172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2468880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42032" y="290779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HI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3273552"/>
            <a:ext cx="188366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PCA with deep autoencoder to capture non-linear feature interactions.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81728" y="2395728"/>
            <a:ext cx="2029968" cy="233172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468880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90779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Alarms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273552"/>
            <a:ext cx="188366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change-point detection for turbine-specific dynamic thresholds.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94576" y="2395728"/>
            <a:ext cx="2029968" cy="233172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67728" y="2468880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67728" y="2907792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Classification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67728" y="3273552"/>
            <a:ext cx="188366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BPFI / BPFO / BSF faults via envelope spectrum or CNN classifier.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6032" y="4846320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MATLAB Bearing Benchmark · MathWorks PCA Docs · Kurtosis Docs · ScienceDirect Crest Factor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 Turbine Bearing Digital Twin</dc:title>
  <dc:subject>PptxGenJS Presentation</dc:subject>
  <dc:creator>Ritesh</dc:creator>
  <cp:lastModifiedBy>Ritesh</cp:lastModifiedBy>
  <cp:revision>1</cp:revision>
  <dcterms:created xsi:type="dcterms:W3CDTF">2026-04-26T11:05:00Z</dcterms:created>
  <dcterms:modified xsi:type="dcterms:W3CDTF">2026-04-26T11:05:00Z</dcterms:modified>
</cp:coreProperties>
</file>