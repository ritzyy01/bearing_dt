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Digital Twin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6576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 High-Speed Shaft Bearing | Run-to-Failure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697480"/>
            <a:ext cx="841248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ME F434 – Digital Twins in Mechanical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Nallamalli  |  Pranav Girish Morab  |  Goutham Mahesh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Pilani, Pilani Campus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bearing Digital Twins? Objectives and dataset overview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1033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RMS, Kurtosis, Crest Factor — time &amp; frequency 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2199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2951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Health Indicator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79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Monotonicity-guided PCA fusion and EMA smoothing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21992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2199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22951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BPFI / BPFO fault frequencies and spectral evolution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83864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83864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3557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410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on Raspberry Pi, browser dashboard, Fusion 360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483864"/>
            <a:ext cx="4206240" cy="107899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83864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3557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410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performance, feature analysis, future work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Rolling-element bearings are the most failure-prone components in wind turbines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Inner/outer-race faults can escalate to catastrophic failure within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time-based maintenance is costly and wasteful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robust real-time health indicators from operating signals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356616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DIGITAL TWIN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software replica continuously ingesting sensor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+ PCA machine-learning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423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on Raspberry Pi for real-time updates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 + Fusion 360 3-D live colour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725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 MW wind turbine bearing (624ZZ) · 50-day run-to-failure · 97.6 kHz sampling · Inner-race fatigue fault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3291840" cy="126187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64008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6128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886968"/>
            <a:ext cx="246888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886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√(1/N·Σ x²[n])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(M=0.02)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rolling MA applied before PCA input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194560"/>
            <a:ext cx="3291840" cy="126187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194560"/>
            <a:ext cx="640080" cy="12618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5786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304288"/>
            <a:ext cx="246888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042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μ₄ / σ⁴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(M=0.31)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rolling MA applied before PCA input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611880"/>
            <a:ext cx="3291840" cy="1261872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611880"/>
            <a:ext cx="640080" cy="12618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9959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721608"/>
            <a:ext cx="246888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21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max|x[n]| / RMS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(M=0.31)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507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rolling MA applied before PCA input</a:t>
            </a:r>
            <a:endParaRPr lang="en-US" sz="950" dirty="0"/>
          </a:p>
        </p:txBody>
      </p:sp>
      <p:pic>
        <p:nvPicPr>
          <p:cNvPr id="25" name="Image 0" descr="/mnt/user-data/uploads/fig1_feature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713232"/>
            <a:ext cx="5349240" cy="4297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PCA-Based Health Indicator Model</a:t>
            </a:r>
            <a:endParaRPr lang="en-US" sz="2600" dirty="0"/>
          </a:p>
        </p:txBody>
      </p:sp>
      <p:pic>
        <p:nvPicPr>
          <p:cNvPr id="4" name="Image 0" descr="/mnt/user-data/uploads/fig5_pca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3774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pic>
        <p:nvPicPr>
          <p:cNvPr id="5" name="Image 1" descr="/mnt/user-data/uploads/fig2_health_indic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685800"/>
            <a:ext cx="3931920" cy="23774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246120"/>
            <a:ext cx="2788920" cy="169164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82880" y="3246120"/>
            <a:ext cx="27889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6032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Train on Days 1–20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56032" y="36576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 · fit PCA · store PC1 eigenvector w₁ · record baseline score s_base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54680" y="3246120"/>
            <a:ext cx="2788920" cy="169164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54680" y="3246120"/>
            <a:ext cx="278892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27832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Global Scale (All 50 Days)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27832" y="36576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δᵢ = |sᵢ − s_base| · store δ_max for proper HI scaling [0→1]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3246120"/>
            <a:ext cx="2788920" cy="169164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3246120"/>
            <a:ext cx="2788920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Online Daily Transform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99632" y="36576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smooth → normalise → PC1 projection → HI = 1 − δᵢ/δ_max → EMA (α=0.2)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3017520" cy="425196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31520"/>
            <a:ext cx="30175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Defect Frequencies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2871216" cy="102412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34440"/>
            <a:ext cx="566928" cy="10241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3444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07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162 Hz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Pass Frequency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Confirmed fault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441448"/>
            <a:ext cx="2871216" cy="102412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441448"/>
            <a:ext cx="566928" cy="1024128"/>
          </a:xfrm>
          <a:prstGeom prst="rect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441448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107 Hz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80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Pass Frequency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191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648456"/>
            <a:ext cx="2871216" cy="1024128"/>
          </a:xfrm>
          <a:prstGeom prst="rect">
            <a:avLst/>
          </a:prstGeom>
          <a:solidFill>
            <a:srgbClr val="1B2E45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648456"/>
            <a:ext cx="56692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648456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721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68 Hz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087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Spin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4398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pic>
        <p:nvPicPr>
          <p:cNvPr id="25" name="Image 0" descr="/mnt/user-data/uploads/fig3_ff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713232"/>
            <a:ext cx="5623560" cy="427939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Signal: Healthy vs Failure</a:t>
            </a:r>
            <a:endParaRPr lang="en-US" sz="2800" dirty="0"/>
          </a:p>
        </p:txBody>
      </p:sp>
      <p:pic>
        <p:nvPicPr>
          <p:cNvPr id="4" name="Image 0" descr="/mnt/user-data/uploads/fig4_time_d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13232"/>
            <a:ext cx="877824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82880" y="4498848"/>
            <a:ext cx="4251960" cy="548640"/>
          </a:xfrm>
          <a:prstGeom prst="rect">
            <a:avLst/>
          </a:prstGeom>
          <a:solidFill>
            <a:srgbClr val="15263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– Healthy 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= 2.297 g · Kurtosis = 3.00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7731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Gaussian noise, no impulsive events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4498848"/>
            <a:ext cx="4251960" cy="548640"/>
          </a:xfrm>
          <a:prstGeom prst="rect">
            <a:avLst/>
          </a:prstGeom>
          <a:solidFill>
            <a:srgbClr val="15263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50 – Failed 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= 2.976 g · Kurtosis = 5.56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47731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impulsive ring-downs from inner-race spalling, peak amplitudes &gt; ±12 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Communication</a:t>
            </a:r>
            <a:endParaRPr lang="en-US" sz="2600" dirty="0"/>
          </a:p>
        </p:txBody>
      </p:sp>
      <p:pic>
        <p:nvPicPr>
          <p:cNvPr id="4" name="Image 0" descr="/mnt/user-data/uploads/fig6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13232"/>
            <a:ext cx="877824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82880" y="3611880"/>
            <a:ext cx="4251960" cy="566928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3611880"/>
            <a:ext cx="9601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6118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08" y="36850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(threaded=True) · Raspberry Pi · 0.0.0.0:5000 · Thread-safe state with Lock()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3611880"/>
            <a:ext cx="4251960" cy="566928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3611880"/>
            <a:ext cx="96012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6118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87568" y="36850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HTML · Tailwind CSS + Plotly.js · 500 ms polling · No install on client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" y="4297680"/>
            <a:ext cx="4251960" cy="566928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" y="4297680"/>
            <a:ext cx="960120" cy="566928"/>
          </a:xfrm>
          <a:prstGeom prst="rect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2976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07008" y="43708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Color.py · 500 ms poll · Cache-busting timestamps · RGB = (1–HI, HI, 0) × 255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4297680"/>
            <a:ext cx="4251960" cy="566928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4297680"/>
            <a:ext cx="960120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42976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87568" y="43708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ms end-to-end file processing → browser update · 1.5 s inter-day simulation delay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20240" cy="10972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192024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0.97–1.0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in Healthy Phase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 1–20)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49808"/>
            <a:ext cx="1920240" cy="10972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749808"/>
            <a:ext cx="192024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22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Threshold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1920240" cy="10972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49808"/>
            <a:ext cx="19202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22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HI at Day 50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749808"/>
            <a:ext cx="1920240" cy="10972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749808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822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93392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482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3591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EMA-smoothed PCA HI tracks three-phase degradation: stable (days 1–20), gradual decline (days 20–40, Warning at day 37), and accelerated failure (days 40–50, HI = 0.19 at day 50). EMA (α=0.2) suppresses ±0.1 oscillations.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80944"/>
            <a:ext cx="73152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35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34670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 analysis reveals RMS is a poor indicator during training (M=0.02). Kurtosis and Crest Factor (M=0.31 each) respond to impulsive ball-pass events before bulk vibration energy rises.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68496"/>
            <a:ext cx="8595360" cy="86868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68496"/>
            <a:ext cx="73152" cy="8686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23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Observations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33425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BPFI harmonics become distinguishable by Day 20. Broadband 2–8 kHz noise-floor elevation at Day 50 confirms severe surface wear and lubricant degradation. Communication latency ~500 ms suits quasi-real-time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20040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operational end-to-end Digital Twin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Health Indicator degrades cleanly from 1.0 → 0.0 with physical alignment to known fault progression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Monotonicity-guided feature selection filters uninformative signals automatically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779776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to run on Raspberry Pi at sub-second update rates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7355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live colour-coded 3-D Fusion 360 model for engineering visualisation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822960"/>
            <a:ext cx="3291840" cy="3200400"/>
          </a:xfrm>
          <a:prstGeom prst="rect">
            <a:avLst/>
          </a:prstGeom>
          <a:solidFill>
            <a:srgbClr val="152638"/>
          </a:solidFill>
          <a:ln w="12700">
            <a:solidFill>
              <a:srgbClr val="1D34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822960"/>
            <a:ext cx="32918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822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9844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degradation models for quantitative RUL prediction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retraining as new run-to-failure data becomes available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9443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Multi-bearing parallelism for fleet-level monitoring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</a:t>
            </a:r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· BITS Pilani · ME F434 · April 2026  |  </a:t>
            </a:r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Bearing Digital Twin</dc:title>
  <dc:subject>PptxGenJS Presentation</dc:subject>
  <dc:creator>PptxGenJS</dc:creator>
  <cp:lastModifiedBy>PptxGenJS</cp:lastModifiedBy>
  <cp:revision>1</cp:revision>
  <dcterms:created xsi:type="dcterms:W3CDTF">2026-04-26T16:45:18Z</dcterms:created>
  <dcterms:modified xsi:type="dcterms:W3CDTF">2026-04-26T16:45:18Z</dcterms:modified>
</cp:coreProperties>
</file>